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ntserrat" charset="1" panose="00000500000000000000"/>
      <p:regular r:id="rId26"/>
    </p:embeddedFont>
    <p:embeddedFont>
      <p:font typeface="Lato Bold" charset="1" panose="020F0502020204030203"/>
      <p:regular r:id="rId27"/>
    </p:embeddedFont>
    <p:embeddedFont>
      <p:font typeface="Montserrat Bold" charset="1" panose="00000800000000000000"/>
      <p:regular r:id="rId30"/>
    </p:embeddedFont>
    <p:embeddedFont>
      <p:font typeface="Lato" charset="1" panose="020F0502020204030203"/>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fonts/font44.fntdata" Type="http://schemas.openxmlformats.org/officeDocument/2006/relationships/font"/><Relationship Id="rId45" Target="notesSlides/notesSlide17.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3.jpeg" Type="http://schemas.openxmlformats.org/officeDocument/2006/relationships/image"/><Relationship Id="rId6" Target="../media/image2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grpSp>
        <p:nvGrpSpPr>
          <p:cNvPr name="Group 2" id="2"/>
          <p:cNvGrpSpPr/>
          <p:nvPr/>
        </p:nvGrpSpPr>
        <p:grpSpPr>
          <a:xfrm rot="5400000">
            <a:off x="15000600" y="1010"/>
            <a:ext cx="3287400" cy="3287400"/>
            <a:chOff x="0" y="0"/>
            <a:chExt cx="4383200" cy="4383200"/>
          </a:xfrm>
        </p:grpSpPr>
        <p:sp>
          <p:nvSpPr>
            <p:cNvPr name="Freeform 3" id="3"/>
            <p:cNvSpPr/>
            <p:nvPr/>
          </p:nvSpPr>
          <p:spPr>
            <a:xfrm flipH="false" flipV="false" rot="0">
              <a:off x="0" y="0"/>
              <a:ext cx="4383151" cy="4383151"/>
            </a:xfrm>
            <a:custGeom>
              <a:avLst/>
              <a:gdLst/>
              <a:ahLst/>
              <a:cxnLst/>
              <a:rect r="r" b="b" t="t" l="l"/>
              <a:pathLst>
                <a:path h="4383151" w="4383151">
                  <a:moveTo>
                    <a:pt x="0" y="0"/>
                  </a:moveTo>
                  <a:lnTo>
                    <a:pt x="4383151" y="0"/>
                  </a:lnTo>
                  <a:lnTo>
                    <a:pt x="0" y="4383151"/>
                  </a:lnTo>
                  <a:close/>
                </a:path>
              </a:pathLst>
            </a:custGeom>
            <a:solidFill>
              <a:srgbClr val="FFFFFF">
                <a:alpha val="0"/>
              </a:srgbClr>
            </a:solidFill>
          </p:spPr>
        </p:sp>
      </p:grpSp>
      <p:sp>
        <p:nvSpPr>
          <p:cNvPr name="Freeform 4" id="4"/>
          <p:cNvSpPr/>
          <p:nvPr/>
        </p:nvSpPr>
        <p:spPr>
          <a:xfrm flipH="false" flipV="false" rot="0">
            <a:off x="0" y="980"/>
            <a:ext cx="10307410" cy="10268798"/>
          </a:xfrm>
          <a:custGeom>
            <a:avLst/>
            <a:gdLst/>
            <a:ahLst/>
            <a:cxnLst/>
            <a:rect r="r" b="b" t="t" l="l"/>
            <a:pathLst>
              <a:path h="10268798" w="10307410">
                <a:moveTo>
                  <a:pt x="0" y="0"/>
                </a:moveTo>
                <a:lnTo>
                  <a:pt x="10307410" y="0"/>
                </a:lnTo>
                <a:lnTo>
                  <a:pt x="10307410" y="10268798"/>
                </a:lnTo>
                <a:lnTo>
                  <a:pt x="0" y="102687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165725" y="3248225"/>
            <a:ext cx="9852150" cy="2974950"/>
          </a:xfrm>
          <a:prstGeom prst="rect">
            <a:avLst/>
          </a:prstGeom>
        </p:spPr>
        <p:txBody>
          <a:bodyPr anchor="t" rtlCol="false" tIns="0" lIns="0" bIns="0" rIns="0">
            <a:spAutoFit/>
          </a:bodyPr>
          <a:lstStyle/>
          <a:p>
            <a:pPr algn="l">
              <a:lnSpc>
                <a:spcPts val="9600"/>
              </a:lnSpc>
            </a:pPr>
            <a:r>
              <a:rPr lang="en-US" sz="8000">
                <a:solidFill>
                  <a:srgbClr val="FFFFFF"/>
                </a:solidFill>
                <a:latin typeface="Montserrat"/>
                <a:ea typeface="Montserrat"/>
                <a:cs typeface="Montserrat"/>
                <a:sym typeface="Montserrat"/>
              </a:rPr>
              <a:t>NAKUJA 4 SOLIDS TEAM</a:t>
            </a:r>
          </a:p>
        </p:txBody>
      </p:sp>
      <p:sp>
        <p:nvSpPr>
          <p:cNvPr name="TextBox 6" id="6"/>
          <p:cNvSpPr txBox="true"/>
          <p:nvPr/>
        </p:nvSpPr>
        <p:spPr>
          <a:xfrm rot="0">
            <a:off x="10259325" y="7931750"/>
            <a:ext cx="6758550" cy="466725"/>
          </a:xfrm>
          <a:prstGeom prst="rect">
            <a:avLst/>
          </a:prstGeom>
        </p:spPr>
        <p:txBody>
          <a:bodyPr anchor="t" rtlCol="false" tIns="0" lIns="0" bIns="0" rIns="0">
            <a:spAutoFit/>
          </a:bodyPr>
          <a:lstStyle/>
          <a:p>
            <a:pPr algn="l">
              <a:lnSpc>
                <a:spcPts val="3600"/>
              </a:lnSpc>
            </a:pPr>
            <a:r>
              <a:rPr lang="en-US" b="true" sz="3000">
                <a:solidFill>
                  <a:srgbClr val="FFFFFF"/>
                </a:solidFill>
                <a:latin typeface="Lato Bold"/>
                <a:ea typeface="Lato Bold"/>
                <a:cs typeface="Lato Bold"/>
                <a:sym typeface="Lato Bold"/>
              </a:rPr>
              <a:t>WEEK 2 PROGRESS REPORT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686425" y="888450"/>
            <a:ext cx="13894950" cy="7143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THIS WEEK’S OBJECTIVES:</a:t>
            </a:r>
          </a:p>
        </p:txBody>
      </p:sp>
      <p:sp>
        <p:nvSpPr>
          <p:cNvPr name="TextBox 4" id="4"/>
          <p:cNvSpPr txBox="true"/>
          <p:nvPr/>
        </p:nvSpPr>
        <p:spPr>
          <a:xfrm rot="0">
            <a:off x="1659210" y="2625528"/>
            <a:ext cx="17955166" cy="5321515"/>
          </a:xfrm>
          <a:prstGeom prst="rect">
            <a:avLst/>
          </a:prstGeom>
        </p:spPr>
        <p:txBody>
          <a:bodyPr anchor="t" rtlCol="false" tIns="0" lIns="0" bIns="0" rIns="0">
            <a:spAutoFit/>
          </a:bodyPr>
          <a:lstStyle/>
          <a:p>
            <a:pPr algn="l" marL="1123047" indent="-561524" lvl="1">
              <a:lnSpc>
                <a:spcPts val="4417"/>
              </a:lnSpc>
              <a:buAutoNum type="arabicPeriod" startAt="1"/>
            </a:pPr>
            <a:r>
              <a:rPr lang="en-US" sz="4001">
                <a:solidFill>
                  <a:srgbClr val="FFFFFF"/>
                </a:solidFill>
                <a:latin typeface="Montserrat"/>
                <a:ea typeface="Montserrat"/>
                <a:cs typeface="Montserrat"/>
                <a:sym typeface="Montserrat"/>
              </a:rPr>
              <a:t>Analysis and research of the previous static test</a:t>
            </a:r>
          </a:p>
          <a:p>
            <a:pPr algn="l" marL="1123047" indent="-561524" lvl="1">
              <a:lnSpc>
                <a:spcPts val="4417"/>
              </a:lnSpc>
              <a:buAutoNum type="arabicPeriod" startAt="1"/>
            </a:pPr>
            <a:r>
              <a:rPr lang="en-US" sz="4001">
                <a:solidFill>
                  <a:srgbClr val="FFFFFF"/>
                </a:solidFill>
                <a:latin typeface="Montserrat"/>
                <a:ea typeface="Montserrat"/>
                <a:cs typeface="Montserrat"/>
                <a:sym typeface="Montserrat"/>
              </a:rPr>
              <a:t>Preparation of the tensile test workpieces</a:t>
            </a:r>
          </a:p>
          <a:p>
            <a:pPr algn="l" marL="1123047" indent="-561524" lvl="1">
              <a:lnSpc>
                <a:spcPts val="4417"/>
              </a:lnSpc>
              <a:buAutoNum type="arabicPeriod" startAt="1"/>
            </a:pPr>
            <a:r>
              <a:rPr lang="en-US" sz="4001">
                <a:solidFill>
                  <a:srgbClr val="FFFFFF"/>
                </a:solidFill>
                <a:latin typeface="Montserrat"/>
                <a:ea typeface="Montserrat"/>
                <a:cs typeface="Montserrat"/>
                <a:sym typeface="Montserrat"/>
              </a:rPr>
              <a:t>Conducted the tensile test on the specimens.</a:t>
            </a:r>
          </a:p>
          <a:p>
            <a:pPr algn="l" marL="1123047" indent="-561524" lvl="1">
              <a:lnSpc>
                <a:spcPts val="4417"/>
              </a:lnSpc>
              <a:buAutoNum type="arabicPeriod" startAt="1"/>
            </a:pPr>
            <a:r>
              <a:rPr lang="en-US" sz="4001">
                <a:solidFill>
                  <a:srgbClr val="FFFFFF"/>
                </a:solidFill>
                <a:latin typeface="Montserrat"/>
                <a:ea typeface="Montserrat"/>
                <a:cs typeface="Montserrat"/>
                <a:sym typeface="Montserrat"/>
              </a:rPr>
              <a:t>Developing calculations for the new casing.</a:t>
            </a:r>
          </a:p>
          <a:p>
            <a:pPr algn="l" marL="1123047" indent="-561524" lvl="1">
              <a:lnSpc>
                <a:spcPts val="4417"/>
              </a:lnSpc>
              <a:buAutoNum type="arabicPeriod" startAt="1"/>
            </a:pPr>
            <a:r>
              <a:rPr lang="en-US" sz="4001">
                <a:solidFill>
                  <a:srgbClr val="FFFFFF"/>
                </a:solidFill>
                <a:latin typeface="Montserrat"/>
                <a:ea typeface="Montserrat"/>
                <a:cs typeface="Montserrat"/>
                <a:sym typeface="Montserrat"/>
              </a:rPr>
              <a:t>Searching for suppliers of the new casing.</a:t>
            </a:r>
          </a:p>
          <a:p>
            <a:pPr algn="l" marL="1123047" indent="-561524" lvl="1">
              <a:lnSpc>
                <a:spcPts val="4417"/>
              </a:lnSpc>
              <a:buAutoNum type="arabicPeriod" startAt="1"/>
            </a:pPr>
            <a:r>
              <a:rPr lang="en-US" sz="4001">
                <a:solidFill>
                  <a:srgbClr val="FFFFFF"/>
                </a:solidFill>
                <a:latin typeface="Montserrat"/>
                <a:ea typeface="Montserrat"/>
                <a:cs typeface="Montserrat"/>
                <a:sym typeface="Montserrat"/>
              </a:rPr>
              <a:t>Cutting of the bulkhead material.</a:t>
            </a:r>
          </a:p>
          <a:p>
            <a:pPr algn="l" marL="1123047" indent="-561524" lvl="1">
              <a:lnSpc>
                <a:spcPts val="4417"/>
              </a:lnSpc>
              <a:buAutoNum type="arabicPeriod" startAt="1"/>
            </a:pPr>
            <a:r>
              <a:rPr lang="en-US" sz="4001">
                <a:solidFill>
                  <a:srgbClr val="FFFFFF"/>
                </a:solidFill>
                <a:latin typeface="Montserrat"/>
                <a:ea typeface="Montserrat"/>
                <a:cs typeface="Montserrat"/>
                <a:sym typeface="Montserrat"/>
              </a:rPr>
              <a:t>Re-making of the liner.</a:t>
            </a:r>
          </a:p>
          <a:p>
            <a:pPr algn="l">
              <a:lnSpc>
                <a:spcPts val="4417"/>
              </a:lnSpc>
            </a:pPr>
          </a:p>
          <a:p>
            <a:pPr algn="l">
              <a:lnSpc>
                <a:spcPts val="4417"/>
              </a:lnSpc>
            </a:pPr>
          </a:p>
          <a:p>
            <a:pPr algn="l">
              <a:lnSpc>
                <a:spcPts val="239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610045" y="658713"/>
            <a:ext cx="13894950" cy="1438275"/>
          </a:xfrm>
          <a:prstGeom prst="rect">
            <a:avLst/>
          </a:prstGeom>
        </p:spPr>
        <p:txBody>
          <a:bodyPr anchor="t" rtlCol="false" tIns="0" lIns="0" bIns="0" rIns="0">
            <a:spAutoFit/>
          </a:bodyPr>
          <a:lstStyle/>
          <a:p>
            <a:pPr algn="l">
              <a:lnSpc>
                <a:spcPts val="5759"/>
              </a:lnSpc>
            </a:pPr>
            <a:r>
              <a:rPr lang="en-US" sz="4800" b="true">
                <a:solidFill>
                  <a:srgbClr val="FFFFFF"/>
                </a:solidFill>
                <a:latin typeface="Montserrat Bold"/>
                <a:ea typeface="Montserrat Bold"/>
                <a:cs typeface="Montserrat Bold"/>
                <a:sym typeface="Montserrat Bold"/>
              </a:rPr>
              <a:t>1.Results from the analysis</a:t>
            </a:r>
          </a:p>
          <a:p>
            <a:pPr algn="l">
              <a:lnSpc>
                <a:spcPts val="5759"/>
              </a:lnSpc>
            </a:pPr>
          </a:p>
        </p:txBody>
      </p:sp>
      <p:sp>
        <p:nvSpPr>
          <p:cNvPr name="TextBox 4" id="4"/>
          <p:cNvSpPr txBox="true"/>
          <p:nvPr/>
        </p:nvSpPr>
        <p:spPr>
          <a:xfrm rot="0">
            <a:off x="1037850" y="3007853"/>
            <a:ext cx="17039341" cy="2469735"/>
          </a:xfrm>
          <a:prstGeom prst="rect">
            <a:avLst/>
          </a:prstGeom>
        </p:spPr>
        <p:txBody>
          <a:bodyPr anchor="t" rtlCol="false" tIns="0" lIns="0" bIns="0" rIns="0">
            <a:spAutoFit/>
          </a:bodyPr>
          <a:lstStyle/>
          <a:p>
            <a:pPr algn="l" marL="883905" indent="-441953" lvl="1">
              <a:lnSpc>
                <a:spcPts val="4912"/>
              </a:lnSpc>
              <a:buFont typeface="Arial"/>
              <a:buChar char="•"/>
            </a:pPr>
            <a:r>
              <a:rPr lang="en-US" sz="4094">
                <a:solidFill>
                  <a:srgbClr val="FFFFFF"/>
                </a:solidFill>
                <a:latin typeface="Montserrat"/>
                <a:ea typeface="Montserrat"/>
                <a:cs typeface="Montserrat"/>
                <a:sym typeface="Montserrat"/>
              </a:rPr>
              <a:t>Calculated working pressure was found to be equal to the simulated motor pressure.</a:t>
            </a:r>
          </a:p>
          <a:p>
            <a:pPr algn="l" marL="883905" indent="-441953" lvl="1">
              <a:lnSpc>
                <a:spcPts val="4912"/>
              </a:lnSpc>
              <a:buFont typeface="Arial"/>
              <a:buChar char="•"/>
            </a:pPr>
            <a:r>
              <a:rPr lang="en-US" sz="4094">
                <a:solidFill>
                  <a:srgbClr val="FFFFFF"/>
                </a:solidFill>
                <a:latin typeface="Montserrat"/>
                <a:ea typeface="Montserrat"/>
                <a:cs typeface="Montserrat"/>
                <a:sym typeface="Montserrat"/>
              </a:rPr>
              <a:t>The liner acted as an insulating layer and ablative layer where pyrolysis occurred.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316200"/>
            <a:ext cx="2075700" cy="2032576"/>
          </a:xfrm>
          <a:custGeom>
            <a:avLst/>
            <a:gdLst/>
            <a:ahLst/>
            <a:cxnLst/>
            <a:rect r="r" b="b" t="t" l="l"/>
            <a:pathLst>
              <a:path h="2032576" w="2075700">
                <a:moveTo>
                  <a:pt x="0" y="0"/>
                </a:moveTo>
                <a:lnTo>
                  <a:pt x="2075700" y="0"/>
                </a:lnTo>
                <a:lnTo>
                  <a:pt x="2075700" y="2032575"/>
                </a:lnTo>
                <a:lnTo>
                  <a:pt x="0" y="2032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519986" y="3759286"/>
            <a:ext cx="9847969" cy="5499014"/>
          </a:xfrm>
          <a:custGeom>
            <a:avLst/>
            <a:gdLst/>
            <a:ahLst/>
            <a:cxnLst/>
            <a:rect r="r" b="b" t="t" l="l"/>
            <a:pathLst>
              <a:path h="5499014" w="9847969">
                <a:moveTo>
                  <a:pt x="0" y="0"/>
                </a:moveTo>
                <a:lnTo>
                  <a:pt x="9847969" y="0"/>
                </a:lnTo>
                <a:lnTo>
                  <a:pt x="9847969" y="5499014"/>
                </a:lnTo>
                <a:lnTo>
                  <a:pt x="0" y="5499014"/>
                </a:lnTo>
                <a:lnTo>
                  <a:pt x="0" y="0"/>
                </a:lnTo>
                <a:close/>
              </a:path>
            </a:pathLst>
          </a:custGeom>
          <a:blipFill>
            <a:blip r:embed="rId5"/>
            <a:stretch>
              <a:fillRect l="0" t="-1071" r="0" b="-2792"/>
            </a:stretch>
          </a:blipFill>
        </p:spPr>
      </p:sp>
      <p:sp>
        <p:nvSpPr>
          <p:cNvPr name="TextBox 4" id="4"/>
          <p:cNvSpPr txBox="true"/>
          <p:nvPr/>
        </p:nvSpPr>
        <p:spPr>
          <a:xfrm rot="0">
            <a:off x="2536377" y="371475"/>
            <a:ext cx="13894950" cy="657225"/>
          </a:xfrm>
          <a:prstGeom prst="rect">
            <a:avLst/>
          </a:prstGeom>
        </p:spPr>
        <p:txBody>
          <a:bodyPr anchor="t" rtlCol="false" tIns="0" lIns="0" bIns="0" rIns="0">
            <a:spAutoFit/>
          </a:bodyPr>
          <a:lstStyle/>
          <a:p>
            <a:pPr algn="l">
              <a:lnSpc>
                <a:spcPts val="5184"/>
              </a:lnSpc>
            </a:pPr>
            <a:r>
              <a:rPr lang="en-US" b="true" sz="4320">
                <a:solidFill>
                  <a:srgbClr val="FFFFFF"/>
                </a:solidFill>
                <a:latin typeface="Montserrat Bold"/>
                <a:ea typeface="Montserrat Bold"/>
                <a:cs typeface="Montserrat Bold"/>
                <a:sym typeface="Montserrat Bold"/>
              </a:rPr>
              <a:t>2.Preparation of the tensile test work pieces</a:t>
            </a:r>
          </a:p>
        </p:txBody>
      </p:sp>
      <p:sp>
        <p:nvSpPr>
          <p:cNvPr name="TextBox 5" id="5"/>
          <p:cNvSpPr txBox="true"/>
          <p:nvPr/>
        </p:nvSpPr>
        <p:spPr>
          <a:xfrm rot="0">
            <a:off x="876467" y="1744133"/>
            <a:ext cx="16005582" cy="1909161"/>
          </a:xfrm>
          <a:prstGeom prst="rect">
            <a:avLst/>
          </a:prstGeom>
        </p:spPr>
        <p:txBody>
          <a:bodyPr anchor="t" rtlCol="false" tIns="0" lIns="0" bIns="0" rIns="0">
            <a:spAutoFit/>
          </a:bodyPr>
          <a:lstStyle/>
          <a:p>
            <a:pPr algn="l">
              <a:lnSpc>
                <a:spcPts val="5088"/>
              </a:lnSpc>
              <a:spcBef>
                <a:spcPct val="0"/>
              </a:spcBef>
            </a:pPr>
            <a:r>
              <a:rPr lang="en-US" sz="4240">
                <a:solidFill>
                  <a:srgbClr val="FFFFFF"/>
                </a:solidFill>
                <a:latin typeface="Montserrat"/>
                <a:ea typeface="Montserrat"/>
                <a:cs typeface="Montserrat"/>
                <a:sym typeface="Montserrat"/>
              </a:rPr>
              <a:t>Using hacksaws,square files and round file  a work piece was made from the aluminium casing according to the ASTM B557M Standard. </a:t>
            </a:r>
          </a:p>
        </p:txBody>
      </p:sp>
      <p:sp>
        <p:nvSpPr>
          <p:cNvPr name="TextBox 6" id="6"/>
          <p:cNvSpPr txBox="true"/>
          <p:nvPr/>
        </p:nvSpPr>
        <p:spPr>
          <a:xfrm rot="0">
            <a:off x="4802342" y="9353550"/>
            <a:ext cx="9283257" cy="429388"/>
          </a:xfrm>
          <a:prstGeom prst="rect">
            <a:avLst/>
          </a:prstGeom>
        </p:spPr>
        <p:txBody>
          <a:bodyPr anchor="t" rtlCol="false" tIns="0" lIns="0" bIns="0" rIns="0">
            <a:spAutoFit/>
          </a:bodyPr>
          <a:lstStyle/>
          <a:p>
            <a:pPr algn="ctr">
              <a:lnSpc>
                <a:spcPts val="3340"/>
              </a:lnSpc>
              <a:spcBef>
                <a:spcPct val="0"/>
              </a:spcBef>
            </a:pPr>
            <a:r>
              <a:rPr lang="en-US" sz="2784">
                <a:solidFill>
                  <a:srgbClr val="FFFFFF"/>
                </a:solidFill>
                <a:latin typeface="Montserrat"/>
                <a:ea typeface="Montserrat"/>
                <a:cs typeface="Montserrat"/>
                <a:sym typeface="Montserrat"/>
              </a:rPr>
              <a:t>Fig 1: Dimensions of work piece with standards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2254961" y="1619264"/>
            <a:ext cx="5286354" cy="7048472"/>
          </a:xfrm>
          <a:custGeom>
            <a:avLst/>
            <a:gdLst/>
            <a:ahLst/>
            <a:cxnLst/>
            <a:rect r="r" b="b" t="t" l="l"/>
            <a:pathLst>
              <a:path h="7048472" w="5286354">
                <a:moveTo>
                  <a:pt x="0" y="0"/>
                </a:moveTo>
                <a:lnTo>
                  <a:pt x="5286354" y="0"/>
                </a:lnTo>
                <a:lnTo>
                  <a:pt x="5286354" y="7048472"/>
                </a:lnTo>
                <a:lnTo>
                  <a:pt x="0" y="7048472"/>
                </a:lnTo>
                <a:lnTo>
                  <a:pt x="0" y="0"/>
                </a:lnTo>
                <a:close/>
              </a:path>
            </a:pathLst>
          </a:custGeom>
          <a:blipFill>
            <a:blip r:embed="rId5"/>
            <a:stretch>
              <a:fillRect l="0" t="0" r="0" b="0"/>
            </a:stretch>
          </a:blipFill>
        </p:spPr>
      </p:sp>
      <p:sp>
        <p:nvSpPr>
          <p:cNvPr name="Freeform 4" id="4"/>
          <p:cNvSpPr/>
          <p:nvPr/>
        </p:nvSpPr>
        <p:spPr>
          <a:xfrm flipH="false" flipV="false" rot="0">
            <a:off x="12402858" y="1907227"/>
            <a:ext cx="3964765" cy="7048472"/>
          </a:xfrm>
          <a:custGeom>
            <a:avLst/>
            <a:gdLst/>
            <a:ahLst/>
            <a:cxnLst/>
            <a:rect r="r" b="b" t="t" l="l"/>
            <a:pathLst>
              <a:path h="7048472" w="3964765">
                <a:moveTo>
                  <a:pt x="0" y="0"/>
                </a:moveTo>
                <a:lnTo>
                  <a:pt x="3964765" y="0"/>
                </a:lnTo>
                <a:lnTo>
                  <a:pt x="3964765" y="7048472"/>
                </a:lnTo>
                <a:lnTo>
                  <a:pt x="0" y="7048472"/>
                </a:lnTo>
                <a:lnTo>
                  <a:pt x="0" y="0"/>
                </a:lnTo>
                <a:close/>
              </a:path>
            </a:pathLst>
          </a:custGeom>
          <a:blipFill>
            <a:blip r:embed="rId6"/>
            <a:stretch>
              <a:fillRect l="0" t="0" r="0" b="0"/>
            </a:stretch>
          </a:blipFill>
        </p:spPr>
      </p:sp>
      <p:sp>
        <p:nvSpPr>
          <p:cNvPr name="TextBox 5" id="5"/>
          <p:cNvSpPr txBox="true"/>
          <p:nvPr/>
        </p:nvSpPr>
        <p:spPr>
          <a:xfrm rot="0">
            <a:off x="5455383" y="663863"/>
            <a:ext cx="13894950" cy="7143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Photo of the activity.</a:t>
            </a:r>
          </a:p>
        </p:txBody>
      </p:sp>
      <p:sp>
        <p:nvSpPr>
          <p:cNvPr name="TextBox 6" id="6"/>
          <p:cNvSpPr txBox="true"/>
          <p:nvPr/>
        </p:nvSpPr>
        <p:spPr>
          <a:xfrm rot="0">
            <a:off x="11713381" y="9258300"/>
            <a:ext cx="4935298" cy="386202"/>
          </a:xfrm>
          <a:prstGeom prst="rect">
            <a:avLst/>
          </a:prstGeom>
        </p:spPr>
        <p:txBody>
          <a:bodyPr anchor="t" rtlCol="false" tIns="0" lIns="0" bIns="0" rIns="0">
            <a:spAutoFit/>
          </a:bodyPr>
          <a:lstStyle/>
          <a:p>
            <a:pPr algn="ctr">
              <a:lnSpc>
                <a:spcPts val="3072"/>
              </a:lnSpc>
              <a:spcBef>
                <a:spcPct val="0"/>
              </a:spcBef>
            </a:pPr>
            <a:r>
              <a:rPr lang="en-US" sz="2560">
                <a:solidFill>
                  <a:srgbClr val="FFFFFF"/>
                </a:solidFill>
                <a:latin typeface="Montserrat"/>
                <a:ea typeface="Montserrat"/>
                <a:cs typeface="Montserrat"/>
                <a:sym typeface="Montserrat"/>
              </a:rPr>
              <a:t>Fig 3. Workpieces after activity</a:t>
            </a:r>
          </a:p>
        </p:txBody>
      </p:sp>
      <p:sp>
        <p:nvSpPr>
          <p:cNvPr name="TextBox 7" id="7"/>
          <p:cNvSpPr txBox="true"/>
          <p:nvPr/>
        </p:nvSpPr>
        <p:spPr>
          <a:xfrm rot="0">
            <a:off x="2254961" y="9258300"/>
            <a:ext cx="4816223" cy="382485"/>
          </a:xfrm>
          <a:prstGeom prst="rect">
            <a:avLst/>
          </a:prstGeom>
        </p:spPr>
        <p:txBody>
          <a:bodyPr anchor="t" rtlCol="false" tIns="0" lIns="0" bIns="0" rIns="0">
            <a:spAutoFit/>
          </a:bodyPr>
          <a:lstStyle/>
          <a:p>
            <a:pPr algn="ctr">
              <a:lnSpc>
                <a:spcPts val="3043"/>
              </a:lnSpc>
              <a:spcBef>
                <a:spcPct val="0"/>
              </a:spcBef>
            </a:pPr>
            <a:r>
              <a:rPr lang="en-US" sz="2536">
                <a:solidFill>
                  <a:srgbClr val="FFFFFF"/>
                </a:solidFill>
                <a:latin typeface="Montserrat"/>
                <a:ea typeface="Montserrat"/>
                <a:cs typeface="Montserrat"/>
                <a:sym typeface="Montserrat"/>
              </a:rPr>
              <a:t>Fig 2. Workpiece preparation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44321" y="4398871"/>
            <a:ext cx="7930126" cy="4460696"/>
          </a:xfrm>
          <a:custGeom>
            <a:avLst/>
            <a:gdLst/>
            <a:ahLst/>
            <a:cxnLst/>
            <a:rect r="r" b="b" t="t" l="l"/>
            <a:pathLst>
              <a:path h="4460696" w="7930126">
                <a:moveTo>
                  <a:pt x="0" y="0"/>
                </a:moveTo>
                <a:lnTo>
                  <a:pt x="7930126" y="0"/>
                </a:lnTo>
                <a:lnTo>
                  <a:pt x="7930126" y="4460696"/>
                </a:lnTo>
                <a:lnTo>
                  <a:pt x="0" y="4460696"/>
                </a:lnTo>
                <a:lnTo>
                  <a:pt x="0" y="0"/>
                </a:lnTo>
                <a:close/>
              </a:path>
            </a:pathLst>
          </a:custGeom>
          <a:blipFill>
            <a:blip r:embed="rId5"/>
            <a:stretch>
              <a:fillRect l="0" t="0" r="0" b="0"/>
            </a:stretch>
          </a:blipFill>
        </p:spPr>
      </p:sp>
      <p:sp>
        <p:nvSpPr>
          <p:cNvPr name="Freeform 4" id="4"/>
          <p:cNvSpPr/>
          <p:nvPr/>
        </p:nvSpPr>
        <p:spPr>
          <a:xfrm flipH="false" flipV="false" rot="0">
            <a:off x="11092848" y="4529663"/>
            <a:ext cx="5773206" cy="4329904"/>
          </a:xfrm>
          <a:custGeom>
            <a:avLst/>
            <a:gdLst/>
            <a:ahLst/>
            <a:cxnLst/>
            <a:rect r="r" b="b" t="t" l="l"/>
            <a:pathLst>
              <a:path h="4329904" w="5773206">
                <a:moveTo>
                  <a:pt x="0" y="0"/>
                </a:moveTo>
                <a:lnTo>
                  <a:pt x="5773205" y="0"/>
                </a:lnTo>
                <a:lnTo>
                  <a:pt x="5773205" y="4329904"/>
                </a:lnTo>
                <a:lnTo>
                  <a:pt x="0" y="4329904"/>
                </a:lnTo>
                <a:lnTo>
                  <a:pt x="0" y="0"/>
                </a:lnTo>
                <a:close/>
              </a:path>
            </a:pathLst>
          </a:custGeom>
          <a:blipFill>
            <a:blip r:embed="rId6"/>
            <a:stretch>
              <a:fillRect l="0" t="0" r="0" b="0"/>
            </a:stretch>
          </a:blipFill>
        </p:spPr>
      </p:sp>
      <p:sp>
        <p:nvSpPr>
          <p:cNvPr name="TextBox 5" id="5"/>
          <p:cNvSpPr txBox="true"/>
          <p:nvPr/>
        </p:nvSpPr>
        <p:spPr>
          <a:xfrm rot="0">
            <a:off x="4891948" y="919500"/>
            <a:ext cx="13894950" cy="714375"/>
          </a:xfrm>
          <a:prstGeom prst="rect">
            <a:avLst/>
          </a:prstGeom>
        </p:spPr>
        <p:txBody>
          <a:bodyPr anchor="t" rtlCol="false" tIns="0" lIns="0" bIns="0" rIns="0">
            <a:spAutoFit/>
          </a:bodyPr>
          <a:lstStyle/>
          <a:p>
            <a:pPr algn="l">
              <a:lnSpc>
                <a:spcPts val="5759"/>
              </a:lnSpc>
            </a:pPr>
            <a:r>
              <a:rPr lang="en-US" b="true" sz="4800">
                <a:solidFill>
                  <a:srgbClr val="FFFFFF"/>
                </a:solidFill>
                <a:latin typeface="Montserrat Bold"/>
                <a:ea typeface="Montserrat Bold"/>
                <a:cs typeface="Montserrat Bold"/>
                <a:sym typeface="Montserrat Bold"/>
              </a:rPr>
              <a:t>3.Tensile testing</a:t>
            </a:r>
          </a:p>
        </p:txBody>
      </p:sp>
      <p:sp>
        <p:nvSpPr>
          <p:cNvPr name="TextBox 6" id="6"/>
          <p:cNvSpPr txBox="true"/>
          <p:nvPr/>
        </p:nvSpPr>
        <p:spPr>
          <a:xfrm rot="0">
            <a:off x="644321" y="1976775"/>
            <a:ext cx="17074453" cy="1560195"/>
          </a:xfrm>
          <a:prstGeom prst="rect">
            <a:avLst/>
          </a:prstGeom>
        </p:spPr>
        <p:txBody>
          <a:bodyPr anchor="t" rtlCol="false" tIns="0" lIns="0" bIns="0" rIns="0">
            <a:spAutoFit/>
          </a:bodyPr>
          <a:lstStyle/>
          <a:p>
            <a:pPr algn="l">
              <a:lnSpc>
                <a:spcPts val="4140"/>
              </a:lnSpc>
            </a:pPr>
            <a:r>
              <a:rPr lang="en-US" b="true" sz="3000">
                <a:solidFill>
                  <a:srgbClr val="FFFFFF"/>
                </a:solidFill>
                <a:latin typeface="Lato Bold"/>
                <a:ea typeface="Lato Bold"/>
                <a:cs typeface="Lato Bold"/>
                <a:sym typeface="Lato Bold"/>
              </a:rPr>
              <a:t>The specimen were tested using a Shimadzu universal tensile testing machine.</a:t>
            </a:r>
          </a:p>
          <a:p>
            <a:pPr algn="l">
              <a:lnSpc>
                <a:spcPts val="4140"/>
              </a:lnSpc>
            </a:pPr>
            <a:r>
              <a:rPr lang="en-US" b="true" sz="3000">
                <a:solidFill>
                  <a:srgbClr val="FFFFFF"/>
                </a:solidFill>
                <a:latin typeface="Lato Bold"/>
                <a:ea typeface="Lato Bold"/>
                <a:cs typeface="Lato Bold"/>
                <a:sym typeface="Lato Bold"/>
              </a:rPr>
              <a:t>The method was customised within the Trapeziumx software and the batch number specified. The specimen was loaded onto the jaws of the machine and loading began.</a:t>
            </a:r>
          </a:p>
        </p:txBody>
      </p:sp>
      <p:sp>
        <p:nvSpPr>
          <p:cNvPr name="TextBox 7" id="7"/>
          <p:cNvSpPr txBox="true"/>
          <p:nvPr/>
        </p:nvSpPr>
        <p:spPr>
          <a:xfrm rot="0">
            <a:off x="2736059" y="9267825"/>
            <a:ext cx="4311778" cy="428625"/>
          </a:xfrm>
          <a:prstGeom prst="rect">
            <a:avLst/>
          </a:prstGeom>
        </p:spPr>
        <p:txBody>
          <a:bodyPr anchor="t" rtlCol="false" tIns="0" lIns="0" bIns="0" rIns="0">
            <a:spAutoFit/>
          </a:bodyPr>
          <a:lstStyle/>
          <a:p>
            <a:pPr algn="ctr">
              <a:lnSpc>
                <a:spcPts val="3486"/>
              </a:lnSpc>
              <a:spcBef>
                <a:spcPct val="0"/>
              </a:spcBef>
            </a:pPr>
            <a:r>
              <a:rPr lang="en-US" sz="2905">
                <a:solidFill>
                  <a:srgbClr val="FFFFFF"/>
                </a:solidFill>
                <a:latin typeface="Montserrat"/>
                <a:ea typeface="Montserrat"/>
                <a:cs typeface="Montserrat"/>
                <a:sym typeface="Montserrat"/>
              </a:rPr>
              <a:t>Fig 4. Tensile test setup</a:t>
            </a:r>
          </a:p>
        </p:txBody>
      </p:sp>
      <p:sp>
        <p:nvSpPr>
          <p:cNvPr name="TextBox 8" id="8"/>
          <p:cNvSpPr txBox="true"/>
          <p:nvPr/>
        </p:nvSpPr>
        <p:spPr>
          <a:xfrm rot="0">
            <a:off x="11340694" y="9254019"/>
            <a:ext cx="5277514" cy="442431"/>
          </a:xfrm>
          <a:prstGeom prst="rect">
            <a:avLst/>
          </a:prstGeom>
        </p:spPr>
        <p:txBody>
          <a:bodyPr anchor="t" rtlCol="false" tIns="0" lIns="0" bIns="0" rIns="0">
            <a:spAutoFit/>
          </a:bodyPr>
          <a:lstStyle/>
          <a:p>
            <a:pPr algn="ctr">
              <a:lnSpc>
                <a:spcPts val="3520"/>
              </a:lnSpc>
              <a:spcBef>
                <a:spcPct val="0"/>
              </a:spcBef>
            </a:pPr>
            <a:r>
              <a:rPr lang="en-US" sz="2933">
                <a:solidFill>
                  <a:srgbClr val="FFFFFF"/>
                </a:solidFill>
                <a:latin typeface="Montserrat"/>
                <a:ea typeface="Montserrat"/>
                <a:cs typeface="Montserrat"/>
                <a:sym typeface="Montserrat"/>
              </a:rPr>
              <a:t>Fig 5. Workpiece in machine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2066550" y="5726392"/>
            <a:ext cx="13674423" cy="3531908"/>
          </a:xfrm>
          <a:custGeom>
            <a:avLst/>
            <a:gdLst/>
            <a:ahLst/>
            <a:cxnLst/>
            <a:rect r="r" b="b" t="t" l="l"/>
            <a:pathLst>
              <a:path h="3531908" w="13674423">
                <a:moveTo>
                  <a:pt x="0" y="0"/>
                </a:moveTo>
                <a:lnTo>
                  <a:pt x="13674423" y="0"/>
                </a:lnTo>
                <a:lnTo>
                  <a:pt x="13674423" y="3531908"/>
                </a:lnTo>
                <a:lnTo>
                  <a:pt x="0" y="3531908"/>
                </a:lnTo>
                <a:lnTo>
                  <a:pt x="0" y="0"/>
                </a:lnTo>
                <a:close/>
              </a:path>
            </a:pathLst>
          </a:custGeom>
          <a:blipFill>
            <a:blip r:embed="rId5"/>
            <a:stretch>
              <a:fillRect l="0" t="0" r="0" b="0"/>
            </a:stretch>
          </a:blipFill>
        </p:spPr>
      </p:sp>
      <p:sp>
        <p:nvSpPr>
          <p:cNvPr name="Freeform 4" id="4"/>
          <p:cNvSpPr/>
          <p:nvPr/>
        </p:nvSpPr>
        <p:spPr>
          <a:xfrm flipH="false" flipV="false" rot="0">
            <a:off x="2066550" y="1895213"/>
            <a:ext cx="13663017" cy="3508911"/>
          </a:xfrm>
          <a:custGeom>
            <a:avLst/>
            <a:gdLst/>
            <a:ahLst/>
            <a:cxnLst/>
            <a:rect r="r" b="b" t="t" l="l"/>
            <a:pathLst>
              <a:path h="3508911" w="13663017">
                <a:moveTo>
                  <a:pt x="0" y="0"/>
                </a:moveTo>
                <a:lnTo>
                  <a:pt x="13663017" y="0"/>
                </a:lnTo>
                <a:lnTo>
                  <a:pt x="13663017" y="3508911"/>
                </a:lnTo>
                <a:lnTo>
                  <a:pt x="0" y="3508911"/>
                </a:lnTo>
                <a:lnTo>
                  <a:pt x="0" y="0"/>
                </a:lnTo>
                <a:close/>
              </a:path>
            </a:pathLst>
          </a:custGeom>
          <a:blipFill>
            <a:blip r:embed="rId6"/>
            <a:stretch>
              <a:fillRect l="0" t="0" r="0" b="0"/>
            </a:stretch>
          </a:blipFill>
        </p:spPr>
      </p:sp>
      <p:sp>
        <p:nvSpPr>
          <p:cNvPr name="TextBox 5" id="5"/>
          <p:cNvSpPr txBox="true"/>
          <p:nvPr/>
        </p:nvSpPr>
        <p:spPr>
          <a:xfrm rot="0">
            <a:off x="2686425" y="888450"/>
            <a:ext cx="13894950" cy="21621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Results of the tensile test</a:t>
            </a:r>
          </a:p>
          <a:p>
            <a:pPr algn="l">
              <a:lnSpc>
                <a:spcPts val="5759"/>
              </a:lnSpc>
            </a:pPr>
          </a:p>
          <a:p>
            <a:pPr algn="l">
              <a:lnSpc>
                <a:spcPts val="57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367100"/>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633690" y="2684755"/>
            <a:ext cx="8126812" cy="5048782"/>
          </a:xfrm>
          <a:custGeom>
            <a:avLst/>
            <a:gdLst/>
            <a:ahLst/>
            <a:cxnLst/>
            <a:rect r="r" b="b" t="t" l="l"/>
            <a:pathLst>
              <a:path h="5048782" w="8126812">
                <a:moveTo>
                  <a:pt x="0" y="0"/>
                </a:moveTo>
                <a:lnTo>
                  <a:pt x="8126812" y="0"/>
                </a:lnTo>
                <a:lnTo>
                  <a:pt x="8126812" y="5048782"/>
                </a:lnTo>
                <a:lnTo>
                  <a:pt x="0" y="5048782"/>
                </a:lnTo>
                <a:lnTo>
                  <a:pt x="0" y="0"/>
                </a:lnTo>
                <a:close/>
              </a:path>
            </a:pathLst>
          </a:custGeom>
          <a:blipFill>
            <a:blip r:embed="rId5"/>
            <a:stretch>
              <a:fillRect l="0" t="0" r="0" b="0"/>
            </a:stretch>
          </a:blipFill>
        </p:spPr>
      </p:sp>
      <p:sp>
        <p:nvSpPr>
          <p:cNvPr name="Freeform 4" id="4"/>
          <p:cNvSpPr/>
          <p:nvPr/>
        </p:nvSpPr>
        <p:spPr>
          <a:xfrm flipH="false" flipV="false" rot="0">
            <a:off x="1028700" y="2572692"/>
            <a:ext cx="7995920" cy="4917491"/>
          </a:xfrm>
          <a:custGeom>
            <a:avLst/>
            <a:gdLst/>
            <a:ahLst/>
            <a:cxnLst/>
            <a:rect r="r" b="b" t="t" l="l"/>
            <a:pathLst>
              <a:path h="4917491" w="7995920">
                <a:moveTo>
                  <a:pt x="0" y="0"/>
                </a:moveTo>
                <a:lnTo>
                  <a:pt x="7995920" y="0"/>
                </a:lnTo>
                <a:lnTo>
                  <a:pt x="7995920" y="4917490"/>
                </a:lnTo>
                <a:lnTo>
                  <a:pt x="0" y="4917490"/>
                </a:lnTo>
                <a:lnTo>
                  <a:pt x="0" y="0"/>
                </a:lnTo>
                <a:close/>
              </a:path>
            </a:pathLst>
          </a:custGeom>
          <a:blipFill>
            <a:blip r:embed="rId6"/>
            <a:stretch>
              <a:fillRect l="0" t="0" r="0" b="0"/>
            </a:stretch>
          </a:blipFill>
        </p:spPr>
      </p:sp>
      <p:sp>
        <p:nvSpPr>
          <p:cNvPr name="TextBox 5" id="5"/>
          <p:cNvSpPr txBox="true"/>
          <p:nvPr/>
        </p:nvSpPr>
        <p:spPr>
          <a:xfrm rot="0">
            <a:off x="3171425" y="658713"/>
            <a:ext cx="13894950" cy="14382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Excel analysis of the results</a:t>
            </a:r>
          </a:p>
          <a:p>
            <a:pPr algn="l">
              <a:lnSpc>
                <a:spcPts val="5759"/>
              </a:lnSpc>
            </a:pPr>
          </a:p>
        </p:txBody>
      </p:sp>
      <p:sp>
        <p:nvSpPr>
          <p:cNvPr name="TextBox 6" id="6"/>
          <p:cNvSpPr txBox="true"/>
          <p:nvPr/>
        </p:nvSpPr>
        <p:spPr>
          <a:xfrm rot="0">
            <a:off x="766583" y="7965886"/>
            <a:ext cx="7414944" cy="411312"/>
          </a:xfrm>
          <a:prstGeom prst="rect">
            <a:avLst/>
          </a:prstGeom>
        </p:spPr>
        <p:txBody>
          <a:bodyPr anchor="t" rtlCol="false" tIns="0" lIns="0" bIns="0" rIns="0">
            <a:spAutoFit/>
          </a:bodyPr>
          <a:lstStyle/>
          <a:p>
            <a:pPr algn="ctr">
              <a:lnSpc>
                <a:spcPts val="3272"/>
              </a:lnSpc>
              <a:spcBef>
                <a:spcPct val="0"/>
              </a:spcBef>
            </a:pPr>
            <a:r>
              <a:rPr lang="en-US" sz="2727">
                <a:solidFill>
                  <a:srgbClr val="FFFFFF"/>
                </a:solidFill>
                <a:latin typeface="Montserrat"/>
                <a:ea typeface="Montserrat"/>
                <a:cs typeface="Montserrat"/>
                <a:sym typeface="Montserrat"/>
              </a:rPr>
              <a:t>Sample 1 stress-strain curve</a:t>
            </a:r>
          </a:p>
        </p:txBody>
      </p:sp>
      <p:sp>
        <p:nvSpPr>
          <p:cNvPr name="TextBox 7" id="7"/>
          <p:cNvSpPr txBox="true"/>
          <p:nvPr/>
        </p:nvSpPr>
        <p:spPr>
          <a:xfrm rot="0">
            <a:off x="9989624" y="7965886"/>
            <a:ext cx="7414944" cy="411312"/>
          </a:xfrm>
          <a:prstGeom prst="rect">
            <a:avLst/>
          </a:prstGeom>
        </p:spPr>
        <p:txBody>
          <a:bodyPr anchor="t" rtlCol="false" tIns="0" lIns="0" bIns="0" rIns="0">
            <a:spAutoFit/>
          </a:bodyPr>
          <a:lstStyle/>
          <a:p>
            <a:pPr algn="ctr">
              <a:lnSpc>
                <a:spcPts val="3272"/>
              </a:lnSpc>
              <a:spcBef>
                <a:spcPct val="0"/>
              </a:spcBef>
            </a:pPr>
            <a:r>
              <a:rPr lang="en-US" sz="2727">
                <a:solidFill>
                  <a:srgbClr val="FFFFFF"/>
                </a:solidFill>
                <a:latin typeface="Montserrat"/>
                <a:ea typeface="Montserrat"/>
                <a:cs typeface="Montserrat"/>
                <a:sym typeface="Montserrat"/>
              </a:rPr>
              <a:t>Sample 2 stress-strain curve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686425" y="888450"/>
            <a:ext cx="13894950" cy="14382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Mechanical properties from the supplier</a:t>
            </a:r>
          </a:p>
          <a:p>
            <a:pPr algn="l">
              <a:lnSpc>
                <a:spcPts val="5759"/>
              </a:lnSpc>
            </a:pPr>
          </a:p>
        </p:txBody>
      </p:sp>
      <p:grpSp>
        <p:nvGrpSpPr>
          <p:cNvPr name="Group 4" id="4"/>
          <p:cNvGrpSpPr/>
          <p:nvPr/>
        </p:nvGrpSpPr>
        <p:grpSpPr>
          <a:xfrm rot="0">
            <a:off x="885287" y="3597861"/>
            <a:ext cx="8748613" cy="3413861"/>
            <a:chOff x="0" y="0"/>
            <a:chExt cx="11664817" cy="4551814"/>
          </a:xfrm>
        </p:grpSpPr>
        <p:sp>
          <p:nvSpPr>
            <p:cNvPr name="Freeform 5" id="5"/>
            <p:cNvSpPr/>
            <p:nvPr/>
          </p:nvSpPr>
          <p:spPr>
            <a:xfrm flipH="false" flipV="false" rot="0">
              <a:off x="76275" y="0"/>
              <a:ext cx="11512267" cy="3815864"/>
            </a:xfrm>
            <a:custGeom>
              <a:avLst/>
              <a:gdLst/>
              <a:ahLst/>
              <a:cxnLst/>
              <a:rect r="r" b="b" t="t" l="l"/>
              <a:pathLst>
                <a:path h="3815864" w="11512267">
                  <a:moveTo>
                    <a:pt x="0" y="0"/>
                  </a:moveTo>
                  <a:lnTo>
                    <a:pt x="11512267" y="0"/>
                  </a:lnTo>
                  <a:lnTo>
                    <a:pt x="11512267" y="3815864"/>
                  </a:lnTo>
                  <a:lnTo>
                    <a:pt x="0" y="3815864"/>
                  </a:lnTo>
                  <a:lnTo>
                    <a:pt x="0" y="0"/>
                  </a:lnTo>
                  <a:close/>
                </a:path>
              </a:pathLst>
            </a:custGeom>
            <a:blipFill>
              <a:blip r:embed="rId5"/>
              <a:stretch>
                <a:fillRect l="0" t="0" r="0" b="0"/>
              </a:stretch>
            </a:blipFill>
          </p:spPr>
        </p:sp>
        <p:sp>
          <p:nvSpPr>
            <p:cNvPr name="Freeform 6" id="6"/>
            <p:cNvSpPr/>
            <p:nvPr/>
          </p:nvSpPr>
          <p:spPr>
            <a:xfrm flipH="false" flipV="false" rot="0">
              <a:off x="0" y="3815864"/>
              <a:ext cx="11664817" cy="735951"/>
            </a:xfrm>
            <a:custGeom>
              <a:avLst/>
              <a:gdLst/>
              <a:ahLst/>
              <a:cxnLst/>
              <a:rect r="r" b="b" t="t" l="l"/>
              <a:pathLst>
                <a:path h="735951" w="11664817">
                  <a:moveTo>
                    <a:pt x="0" y="0"/>
                  </a:moveTo>
                  <a:lnTo>
                    <a:pt x="11664817" y="0"/>
                  </a:lnTo>
                  <a:lnTo>
                    <a:pt x="11664817" y="735950"/>
                  </a:lnTo>
                  <a:lnTo>
                    <a:pt x="0" y="735950"/>
                  </a:lnTo>
                  <a:lnTo>
                    <a:pt x="0" y="0"/>
                  </a:lnTo>
                  <a:close/>
                </a:path>
              </a:pathLst>
            </a:custGeom>
            <a:blipFill>
              <a:blip r:embed="rId6"/>
              <a:stretch>
                <a:fillRect l="0" t="0" r="0" b="0"/>
              </a:stretch>
            </a:blipFill>
          </p:spPr>
        </p:sp>
      </p:grpSp>
      <p:sp>
        <p:nvSpPr>
          <p:cNvPr name="Freeform 7" id="7"/>
          <p:cNvSpPr/>
          <p:nvPr/>
        </p:nvSpPr>
        <p:spPr>
          <a:xfrm flipH="false" flipV="false" rot="0">
            <a:off x="11216531" y="2551019"/>
            <a:ext cx="6529521" cy="6426491"/>
          </a:xfrm>
          <a:custGeom>
            <a:avLst/>
            <a:gdLst/>
            <a:ahLst/>
            <a:cxnLst/>
            <a:rect r="r" b="b" t="t" l="l"/>
            <a:pathLst>
              <a:path h="6426491" w="6529521">
                <a:moveTo>
                  <a:pt x="0" y="0"/>
                </a:moveTo>
                <a:lnTo>
                  <a:pt x="6529521" y="0"/>
                </a:lnTo>
                <a:lnTo>
                  <a:pt x="6529521" y="6426492"/>
                </a:lnTo>
                <a:lnTo>
                  <a:pt x="0" y="6426492"/>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686425" y="888450"/>
            <a:ext cx="13894950" cy="14382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Conclusion of the test</a:t>
            </a:r>
          </a:p>
          <a:p>
            <a:pPr algn="l">
              <a:lnSpc>
                <a:spcPts val="5759"/>
              </a:lnSpc>
            </a:pPr>
          </a:p>
        </p:txBody>
      </p:sp>
      <p:sp>
        <p:nvSpPr>
          <p:cNvPr name="TextBox 4" id="4"/>
          <p:cNvSpPr txBox="true"/>
          <p:nvPr/>
        </p:nvSpPr>
        <p:spPr>
          <a:xfrm rot="0">
            <a:off x="2347463" y="2873499"/>
            <a:ext cx="14572875" cy="2270001"/>
          </a:xfrm>
          <a:prstGeom prst="rect">
            <a:avLst/>
          </a:prstGeom>
        </p:spPr>
        <p:txBody>
          <a:bodyPr anchor="t" rtlCol="false" tIns="0" lIns="0" bIns="0" rIns="0">
            <a:spAutoFit/>
          </a:bodyPr>
          <a:lstStyle/>
          <a:p>
            <a:pPr algn="l">
              <a:lnSpc>
                <a:spcPts val="4515"/>
              </a:lnSpc>
            </a:pPr>
            <a:r>
              <a:rPr lang="en-US" sz="3762">
                <a:solidFill>
                  <a:srgbClr val="FFFFFF"/>
                </a:solidFill>
                <a:latin typeface="Montserrat"/>
                <a:ea typeface="Montserrat"/>
                <a:cs typeface="Montserrat"/>
                <a:sym typeface="Montserrat"/>
              </a:rPr>
              <a:t>From the tensile test, it is evident that the Yield stress from the supplier was concurrent with yield stress of the test. The same is true for the Ultimate tensile stress</a:t>
            </a:r>
          </a:p>
          <a:p>
            <a:pPr algn="l">
              <a:lnSpc>
                <a:spcPts val="4515"/>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983958" y="2556462"/>
            <a:ext cx="6986188" cy="5937928"/>
          </a:xfrm>
          <a:custGeom>
            <a:avLst/>
            <a:gdLst/>
            <a:ahLst/>
            <a:cxnLst/>
            <a:rect r="r" b="b" t="t" l="l"/>
            <a:pathLst>
              <a:path h="5937928" w="6986188">
                <a:moveTo>
                  <a:pt x="0" y="0"/>
                </a:moveTo>
                <a:lnTo>
                  <a:pt x="6986188" y="0"/>
                </a:lnTo>
                <a:lnTo>
                  <a:pt x="6986188" y="5937927"/>
                </a:lnTo>
                <a:lnTo>
                  <a:pt x="0" y="5937927"/>
                </a:lnTo>
                <a:lnTo>
                  <a:pt x="0" y="0"/>
                </a:lnTo>
                <a:close/>
              </a:path>
            </a:pathLst>
          </a:custGeom>
          <a:blipFill>
            <a:blip r:embed="rId5"/>
            <a:stretch>
              <a:fillRect l="0" t="0" r="-77996" b="-6018"/>
            </a:stretch>
          </a:blipFill>
        </p:spPr>
      </p:sp>
      <p:sp>
        <p:nvSpPr>
          <p:cNvPr name="Freeform 4" id="4"/>
          <p:cNvSpPr/>
          <p:nvPr/>
        </p:nvSpPr>
        <p:spPr>
          <a:xfrm flipH="false" flipV="false" rot="0">
            <a:off x="1325602" y="2556462"/>
            <a:ext cx="6591071" cy="5935492"/>
          </a:xfrm>
          <a:custGeom>
            <a:avLst/>
            <a:gdLst/>
            <a:ahLst/>
            <a:cxnLst/>
            <a:rect r="r" b="b" t="t" l="l"/>
            <a:pathLst>
              <a:path h="5935492" w="6591071">
                <a:moveTo>
                  <a:pt x="0" y="0"/>
                </a:moveTo>
                <a:lnTo>
                  <a:pt x="6591071" y="0"/>
                </a:lnTo>
                <a:lnTo>
                  <a:pt x="6591071" y="5935492"/>
                </a:lnTo>
                <a:lnTo>
                  <a:pt x="0" y="5935492"/>
                </a:lnTo>
                <a:lnTo>
                  <a:pt x="0" y="0"/>
                </a:lnTo>
                <a:close/>
              </a:path>
            </a:pathLst>
          </a:custGeom>
          <a:blipFill>
            <a:blip r:embed="rId6"/>
            <a:stretch>
              <a:fillRect l="-857" t="0" r="-84088" b="-18602"/>
            </a:stretch>
          </a:blipFill>
        </p:spPr>
      </p:sp>
      <p:sp>
        <p:nvSpPr>
          <p:cNvPr name="TextBox 5" id="5"/>
          <p:cNvSpPr txBox="true"/>
          <p:nvPr/>
        </p:nvSpPr>
        <p:spPr>
          <a:xfrm rot="0">
            <a:off x="2686425" y="888450"/>
            <a:ext cx="13894950" cy="14382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Material properties of different Al alloys</a:t>
            </a:r>
          </a:p>
          <a:p>
            <a:pPr algn="l">
              <a:lnSpc>
                <a:spcPts val="5759"/>
              </a:lnSpc>
            </a:pPr>
          </a:p>
        </p:txBody>
      </p:sp>
      <p:sp>
        <p:nvSpPr>
          <p:cNvPr name="TextBox 6" id="6"/>
          <p:cNvSpPr txBox="true"/>
          <p:nvPr/>
        </p:nvSpPr>
        <p:spPr>
          <a:xfrm rot="0">
            <a:off x="3070299" y="8905875"/>
            <a:ext cx="3101678" cy="714375"/>
          </a:xfrm>
          <a:prstGeom prst="rect">
            <a:avLst/>
          </a:prstGeom>
        </p:spPr>
        <p:txBody>
          <a:bodyPr anchor="t" rtlCol="false" tIns="0" lIns="0" bIns="0" rIns="0">
            <a:spAutoFit/>
          </a:bodyPr>
          <a:lstStyle/>
          <a:p>
            <a:pPr algn="ctr">
              <a:lnSpc>
                <a:spcPts val="5759"/>
              </a:lnSpc>
              <a:spcBef>
                <a:spcPct val="0"/>
              </a:spcBef>
            </a:pPr>
            <a:r>
              <a:rPr lang="en-US" sz="4800">
                <a:solidFill>
                  <a:srgbClr val="FFFFFF"/>
                </a:solidFill>
                <a:latin typeface="Montserrat"/>
                <a:ea typeface="Montserrat"/>
                <a:cs typeface="Montserrat"/>
                <a:sym typeface="Montserrat"/>
              </a:rPr>
              <a:t>Al 6063 T5</a:t>
            </a:r>
          </a:p>
        </p:txBody>
      </p:sp>
      <p:sp>
        <p:nvSpPr>
          <p:cNvPr name="TextBox 7" id="7"/>
          <p:cNvSpPr txBox="true"/>
          <p:nvPr/>
        </p:nvSpPr>
        <p:spPr>
          <a:xfrm rot="0">
            <a:off x="13154410" y="8905875"/>
            <a:ext cx="2995612" cy="714375"/>
          </a:xfrm>
          <a:prstGeom prst="rect">
            <a:avLst/>
          </a:prstGeom>
        </p:spPr>
        <p:txBody>
          <a:bodyPr anchor="t" rtlCol="false" tIns="0" lIns="0" bIns="0" rIns="0">
            <a:spAutoFit/>
          </a:bodyPr>
          <a:lstStyle/>
          <a:p>
            <a:pPr algn="ctr">
              <a:lnSpc>
                <a:spcPts val="5759"/>
              </a:lnSpc>
              <a:spcBef>
                <a:spcPct val="0"/>
              </a:spcBef>
            </a:pPr>
            <a:r>
              <a:rPr lang="en-US" sz="4800">
                <a:solidFill>
                  <a:srgbClr val="FFFFFF"/>
                </a:solidFill>
                <a:latin typeface="Montserrat"/>
                <a:ea typeface="Montserrat"/>
                <a:cs typeface="Montserrat"/>
                <a:sym typeface="Montserrat"/>
              </a:rPr>
              <a:t>Al 6061 T6</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137363"/>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29165" y="1895213"/>
            <a:ext cx="9304735" cy="7129754"/>
          </a:xfrm>
          <a:custGeom>
            <a:avLst/>
            <a:gdLst/>
            <a:ahLst/>
            <a:cxnLst/>
            <a:rect r="r" b="b" t="t" l="l"/>
            <a:pathLst>
              <a:path h="7129754" w="9304735">
                <a:moveTo>
                  <a:pt x="0" y="0"/>
                </a:moveTo>
                <a:lnTo>
                  <a:pt x="9304735" y="0"/>
                </a:lnTo>
                <a:lnTo>
                  <a:pt x="9304735" y="7129754"/>
                </a:lnTo>
                <a:lnTo>
                  <a:pt x="0" y="7129754"/>
                </a:lnTo>
                <a:lnTo>
                  <a:pt x="0" y="0"/>
                </a:lnTo>
                <a:close/>
              </a:path>
            </a:pathLst>
          </a:custGeom>
          <a:blipFill>
            <a:blip r:embed="rId5"/>
            <a:stretch>
              <a:fillRect l="0" t="0" r="0" b="0"/>
            </a:stretch>
          </a:blipFill>
        </p:spPr>
      </p:sp>
      <p:sp>
        <p:nvSpPr>
          <p:cNvPr name="Freeform 4" id="4"/>
          <p:cNvSpPr/>
          <p:nvPr/>
        </p:nvSpPr>
        <p:spPr>
          <a:xfrm flipH="false" flipV="false" rot="0">
            <a:off x="10296230" y="1895213"/>
            <a:ext cx="7710876" cy="7210144"/>
          </a:xfrm>
          <a:custGeom>
            <a:avLst/>
            <a:gdLst/>
            <a:ahLst/>
            <a:cxnLst/>
            <a:rect r="r" b="b" t="t" l="l"/>
            <a:pathLst>
              <a:path h="7210144" w="7710876">
                <a:moveTo>
                  <a:pt x="0" y="0"/>
                </a:moveTo>
                <a:lnTo>
                  <a:pt x="7710877" y="0"/>
                </a:lnTo>
                <a:lnTo>
                  <a:pt x="7710877" y="7210144"/>
                </a:lnTo>
                <a:lnTo>
                  <a:pt x="0" y="7210144"/>
                </a:lnTo>
                <a:lnTo>
                  <a:pt x="0" y="0"/>
                </a:lnTo>
                <a:close/>
              </a:path>
            </a:pathLst>
          </a:custGeom>
          <a:blipFill>
            <a:blip r:embed="rId6"/>
            <a:stretch>
              <a:fillRect l="0" t="0" r="-387" b="0"/>
            </a:stretch>
          </a:blipFill>
        </p:spPr>
      </p:sp>
      <p:sp>
        <p:nvSpPr>
          <p:cNvPr name="TextBox 5" id="5"/>
          <p:cNvSpPr txBox="true"/>
          <p:nvPr/>
        </p:nvSpPr>
        <p:spPr>
          <a:xfrm rot="0">
            <a:off x="4393050" y="314325"/>
            <a:ext cx="13894950" cy="1438275"/>
          </a:xfrm>
          <a:prstGeom prst="rect">
            <a:avLst/>
          </a:prstGeom>
        </p:spPr>
        <p:txBody>
          <a:bodyPr anchor="t" rtlCol="false" tIns="0" lIns="0" bIns="0" rIns="0">
            <a:spAutoFit/>
          </a:bodyPr>
          <a:lstStyle/>
          <a:p>
            <a:pPr algn="l">
              <a:lnSpc>
                <a:spcPts val="5759"/>
              </a:lnSpc>
            </a:pPr>
            <a:r>
              <a:rPr lang="en-US" sz="4800" b="true">
                <a:solidFill>
                  <a:srgbClr val="FFFFFF"/>
                </a:solidFill>
                <a:latin typeface="Montserrat Bold"/>
                <a:ea typeface="Montserrat Bold"/>
                <a:cs typeface="Montserrat Bold"/>
                <a:sym typeface="Montserrat Bold"/>
              </a:rPr>
              <a:t>4.Calculation of the casing</a:t>
            </a:r>
          </a:p>
          <a:p>
            <a:pPr algn="l">
              <a:lnSpc>
                <a:spcPts val="5759"/>
              </a:lnSpc>
            </a:pPr>
          </a:p>
        </p:txBody>
      </p:sp>
      <p:sp>
        <p:nvSpPr>
          <p:cNvPr name="TextBox 6" id="6"/>
          <p:cNvSpPr txBox="true"/>
          <p:nvPr/>
        </p:nvSpPr>
        <p:spPr>
          <a:xfrm rot="0">
            <a:off x="1698974" y="9492946"/>
            <a:ext cx="6565117" cy="351555"/>
          </a:xfrm>
          <a:prstGeom prst="rect">
            <a:avLst/>
          </a:prstGeom>
        </p:spPr>
        <p:txBody>
          <a:bodyPr anchor="t" rtlCol="false" tIns="0" lIns="0" bIns="0" rIns="0">
            <a:spAutoFit/>
          </a:bodyPr>
          <a:lstStyle/>
          <a:p>
            <a:pPr algn="ctr">
              <a:lnSpc>
                <a:spcPts val="2721"/>
              </a:lnSpc>
              <a:spcBef>
                <a:spcPct val="0"/>
              </a:spcBef>
            </a:pPr>
            <a:r>
              <a:rPr lang="en-US" sz="2267">
                <a:solidFill>
                  <a:srgbClr val="FFFFFF"/>
                </a:solidFill>
                <a:latin typeface="Montserrat"/>
                <a:ea typeface="Montserrat"/>
                <a:cs typeface="Montserrat"/>
                <a:sym typeface="Montserrat"/>
              </a:rPr>
              <a:t>Fig 12. Casing calculations for AL 6063 T5</a:t>
            </a:r>
          </a:p>
        </p:txBody>
      </p:sp>
      <p:sp>
        <p:nvSpPr>
          <p:cNvPr name="TextBox 7" id="7"/>
          <p:cNvSpPr txBox="true"/>
          <p:nvPr/>
        </p:nvSpPr>
        <p:spPr>
          <a:xfrm rot="0">
            <a:off x="10694183" y="9492946"/>
            <a:ext cx="6565117" cy="351555"/>
          </a:xfrm>
          <a:prstGeom prst="rect">
            <a:avLst/>
          </a:prstGeom>
        </p:spPr>
        <p:txBody>
          <a:bodyPr anchor="t" rtlCol="false" tIns="0" lIns="0" bIns="0" rIns="0">
            <a:spAutoFit/>
          </a:bodyPr>
          <a:lstStyle/>
          <a:p>
            <a:pPr algn="ctr">
              <a:lnSpc>
                <a:spcPts val="2721"/>
              </a:lnSpc>
              <a:spcBef>
                <a:spcPct val="0"/>
              </a:spcBef>
            </a:pPr>
            <a:r>
              <a:rPr lang="en-US" sz="2267">
                <a:solidFill>
                  <a:srgbClr val="FFFFFF"/>
                </a:solidFill>
                <a:latin typeface="Montserrat"/>
                <a:ea typeface="Montserrat"/>
                <a:cs typeface="Montserrat"/>
                <a:sym typeface="Montserrat"/>
              </a:rPr>
              <a:t>Fig 12. Casing calculations for AL 6061 T6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409814"/>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1008525" y="1622762"/>
            <a:ext cx="6924988" cy="7129974"/>
          </a:xfrm>
          <a:custGeom>
            <a:avLst/>
            <a:gdLst/>
            <a:ahLst/>
            <a:cxnLst/>
            <a:rect r="r" b="b" t="t" l="l"/>
            <a:pathLst>
              <a:path h="7129974" w="6924988">
                <a:moveTo>
                  <a:pt x="0" y="0"/>
                </a:moveTo>
                <a:lnTo>
                  <a:pt x="6924988" y="0"/>
                </a:lnTo>
                <a:lnTo>
                  <a:pt x="6924988" y="7129974"/>
                </a:lnTo>
                <a:lnTo>
                  <a:pt x="0" y="7129974"/>
                </a:lnTo>
                <a:lnTo>
                  <a:pt x="0" y="0"/>
                </a:lnTo>
                <a:close/>
              </a:path>
            </a:pathLst>
          </a:custGeom>
          <a:blipFill>
            <a:blip r:embed="rId5"/>
            <a:stretch>
              <a:fillRect l="0" t="0" r="0" b="0"/>
            </a:stretch>
          </a:blipFill>
        </p:spPr>
      </p:sp>
      <p:sp>
        <p:nvSpPr>
          <p:cNvPr name="Freeform 4" id="4"/>
          <p:cNvSpPr/>
          <p:nvPr/>
        </p:nvSpPr>
        <p:spPr>
          <a:xfrm flipH="false" flipV="false" rot="0">
            <a:off x="1556024" y="1622762"/>
            <a:ext cx="6847713" cy="7189200"/>
          </a:xfrm>
          <a:custGeom>
            <a:avLst/>
            <a:gdLst/>
            <a:ahLst/>
            <a:cxnLst/>
            <a:rect r="r" b="b" t="t" l="l"/>
            <a:pathLst>
              <a:path h="7189200" w="6847713">
                <a:moveTo>
                  <a:pt x="0" y="0"/>
                </a:moveTo>
                <a:lnTo>
                  <a:pt x="6847713" y="0"/>
                </a:lnTo>
                <a:lnTo>
                  <a:pt x="6847713" y="7189200"/>
                </a:lnTo>
                <a:lnTo>
                  <a:pt x="0" y="7189200"/>
                </a:lnTo>
                <a:lnTo>
                  <a:pt x="0" y="0"/>
                </a:lnTo>
                <a:close/>
              </a:path>
            </a:pathLst>
          </a:custGeom>
          <a:blipFill>
            <a:blip r:embed="rId6"/>
            <a:stretch>
              <a:fillRect l="0" t="0" r="0" b="0"/>
            </a:stretch>
          </a:blipFill>
        </p:spPr>
      </p:sp>
      <p:sp>
        <p:nvSpPr>
          <p:cNvPr name="TextBox 5" id="5"/>
          <p:cNvSpPr txBox="true"/>
          <p:nvPr/>
        </p:nvSpPr>
        <p:spPr>
          <a:xfrm rot="0">
            <a:off x="2709875" y="242200"/>
            <a:ext cx="13894950" cy="714375"/>
          </a:xfrm>
          <a:prstGeom prst="rect">
            <a:avLst/>
          </a:prstGeom>
        </p:spPr>
        <p:txBody>
          <a:bodyPr anchor="t" rtlCol="false" tIns="0" lIns="0" bIns="0" rIns="0">
            <a:spAutoFit/>
          </a:bodyPr>
          <a:lstStyle/>
          <a:p>
            <a:pPr algn="l">
              <a:lnSpc>
                <a:spcPts val="5759"/>
              </a:lnSpc>
            </a:pPr>
            <a:r>
              <a:rPr lang="en-US" b="true" sz="4800">
                <a:solidFill>
                  <a:srgbClr val="FFFFFF"/>
                </a:solidFill>
                <a:latin typeface="Montserrat Bold"/>
                <a:ea typeface="Montserrat Bold"/>
                <a:cs typeface="Montserrat Bold"/>
                <a:sym typeface="Montserrat Bold"/>
              </a:rPr>
              <a:t>5.Suppliers from the internet</a:t>
            </a:r>
          </a:p>
        </p:txBody>
      </p:sp>
      <p:sp>
        <p:nvSpPr>
          <p:cNvPr name="TextBox 6" id="6"/>
          <p:cNvSpPr txBox="true"/>
          <p:nvPr/>
        </p:nvSpPr>
        <p:spPr>
          <a:xfrm rot="0">
            <a:off x="3511940" y="9267825"/>
            <a:ext cx="12290819" cy="593296"/>
          </a:xfrm>
          <a:prstGeom prst="rect">
            <a:avLst/>
          </a:prstGeom>
        </p:spPr>
        <p:txBody>
          <a:bodyPr anchor="t" rtlCol="false" tIns="0" lIns="0" bIns="0" rIns="0">
            <a:spAutoFit/>
          </a:bodyPr>
          <a:lstStyle/>
          <a:p>
            <a:pPr algn="ctr">
              <a:lnSpc>
                <a:spcPts val="4796"/>
              </a:lnSpc>
              <a:spcBef>
                <a:spcPct val="0"/>
              </a:spcBef>
            </a:pPr>
            <a:r>
              <a:rPr lang="en-US" sz="3997">
                <a:solidFill>
                  <a:srgbClr val="FFFFFF"/>
                </a:solidFill>
                <a:latin typeface="Montserrat"/>
                <a:ea typeface="Montserrat"/>
                <a:cs typeface="Montserrat"/>
                <a:sym typeface="Montserrat"/>
              </a:rPr>
              <a:t>Fig 14&amp;15. Alibaba supplier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153158"/>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67644" y="2809614"/>
            <a:ext cx="6707553" cy="5272881"/>
          </a:xfrm>
          <a:custGeom>
            <a:avLst/>
            <a:gdLst/>
            <a:ahLst/>
            <a:cxnLst/>
            <a:rect r="r" b="b" t="t" l="l"/>
            <a:pathLst>
              <a:path h="5272881" w="6707553">
                <a:moveTo>
                  <a:pt x="0" y="0"/>
                </a:moveTo>
                <a:lnTo>
                  <a:pt x="6707553" y="0"/>
                </a:lnTo>
                <a:lnTo>
                  <a:pt x="6707553" y="5272880"/>
                </a:lnTo>
                <a:lnTo>
                  <a:pt x="0" y="5272880"/>
                </a:lnTo>
                <a:lnTo>
                  <a:pt x="0" y="0"/>
                </a:lnTo>
                <a:close/>
              </a:path>
            </a:pathLst>
          </a:custGeom>
          <a:blipFill>
            <a:blip r:embed="rId5"/>
            <a:stretch>
              <a:fillRect l="0" t="-34805" r="0" b="-34805"/>
            </a:stretch>
          </a:blipFill>
        </p:spPr>
      </p:sp>
      <p:sp>
        <p:nvSpPr>
          <p:cNvPr name="Freeform 4" id="4"/>
          <p:cNvSpPr/>
          <p:nvPr/>
        </p:nvSpPr>
        <p:spPr>
          <a:xfrm flipH="false" flipV="false" rot="0">
            <a:off x="8663901" y="2912488"/>
            <a:ext cx="9105926" cy="5067133"/>
          </a:xfrm>
          <a:custGeom>
            <a:avLst/>
            <a:gdLst/>
            <a:ahLst/>
            <a:cxnLst/>
            <a:rect r="r" b="b" t="t" l="l"/>
            <a:pathLst>
              <a:path h="5067133" w="9105926">
                <a:moveTo>
                  <a:pt x="0" y="0"/>
                </a:moveTo>
                <a:lnTo>
                  <a:pt x="9105925" y="0"/>
                </a:lnTo>
                <a:lnTo>
                  <a:pt x="9105925" y="5067132"/>
                </a:lnTo>
                <a:lnTo>
                  <a:pt x="0" y="5067132"/>
                </a:lnTo>
                <a:lnTo>
                  <a:pt x="0" y="0"/>
                </a:lnTo>
                <a:close/>
              </a:path>
            </a:pathLst>
          </a:custGeom>
          <a:blipFill>
            <a:blip r:embed="rId6"/>
            <a:stretch>
              <a:fillRect l="0" t="-26526" r="-26049" b="-889"/>
            </a:stretch>
          </a:blipFill>
        </p:spPr>
      </p:sp>
      <p:sp>
        <p:nvSpPr>
          <p:cNvPr name="TextBox 5" id="5"/>
          <p:cNvSpPr txBox="true"/>
          <p:nvPr/>
        </p:nvSpPr>
        <p:spPr>
          <a:xfrm rot="0">
            <a:off x="2303530" y="471251"/>
            <a:ext cx="15120212" cy="714375"/>
          </a:xfrm>
          <a:prstGeom prst="rect">
            <a:avLst/>
          </a:prstGeom>
        </p:spPr>
        <p:txBody>
          <a:bodyPr anchor="t" rtlCol="false" tIns="0" lIns="0" bIns="0" rIns="0">
            <a:spAutoFit/>
          </a:bodyPr>
          <a:lstStyle/>
          <a:p>
            <a:pPr algn="l">
              <a:lnSpc>
                <a:spcPts val="5759"/>
              </a:lnSpc>
            </a:pPr>
            <a:r>
              <a:rPr lang="en-US" b="true" sz="4800">
                <a:solidFill>
                  <a:srgbClr val="FFFFFF"/>
                </a:solidFill>
                <a:latin typeface="Montserrat Bold"/>
                <a:ea typeface="Montserrat Bold"/>
                <a:cs typeface="Montserrat Bold"/>
                <a:sym typeface="Montserrat Bold"/>
              </a:rPr>
              <a:t>6. Cutting of the bulkhead to specific size.</a:t>
            </a:r>
          </a:p>
        </p:txBody>
      </p:sp>
      <p:sp>
        <p:nvSpPr>
          <p:cNvPr name="TextBox 6" id="6"/>
          <p:cNvSpPr txBox="true"/>
          <p:nvPr/>
        </p:nvSpPr>
        <p:spPr>
          <a:xfrm rot="0">
            <a:off x="4750490" y="9012690"/>
            <a:ext cx="9037313" cy="491220"/>
          </a:xfrm>
          <a:prstGeom prst="rect">
            <a:avLst/>
          </a:prstGeom>
        </p:spPr>
        <p:txBody>
          <a:bodyPr anchor="t" rtlCol="false" tIns="0" lIns="0" bIns="0" rIns="0">
            <a:spAutoFit/>
          </a:bodyPr>
          <a:lstStyle/>
          <a:p>
            <a:pPr algn="ctr">
              <a:lnSpc>
                <a:spcPts val="3908"/>
              </a:lnSpc>
              <a:spcBef>
                <a:spcPct val="0"/>
              </a:spcBef>
            </a:pPr>
            <a:r>
              <a:rPr lang="en-US" sz="3257">
                <a:solidFill>
                  <a:srgbClr val="FFFFFF"/>
                </a:solidFill>
                <a:latin typeface="Montserrat"/>
                <a:ea typeface="Montserrat"/>
                <a:cs typeface="Montserrat"/>
                <a:sym typeface="Montserrat"/>
              </a:rPr>
              <a:t>Fig 16. Bulkhead material cut to dimension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9150" y="-153158"/>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969918" y="2159366"/>
            <a:ext cx="8598457" cy="6621145"/>
          </a:xfrm>
          <a:custGeom>
            <a:avLst/>
            <a:gdLst/>
            <a:ahLst/>
            <a:cxnLst/>
            <a:rect r="r" b="b" t="t" l="l"/>
            <a:pathLst>
              <a:path h="6621145" w="8598457">
                <a:moveTo>
                  <a:pt x="0" y="0"/>
                </a:moveTo>
                <a:lnTo>
                  <a:pt x="8598456" y="0"/>
                </a:lnTo>
                <a:lnTo>
                  <a:pt x="8598456" y="6621145"/>
                </a:lnTo>
                <a:lnTo>
                  <a:pt x="0" y="6621145"/>
                </a:lnTo>
                <a:lnTo>
                  <a:pt x="0" y="0"/>
                </a:lnTo>
                <a:close/>
              </a:path>
            </a:pathLst>
          </a:custGeom>
          <a:blipFill>
            <a:blip r:embed="rId5"/>
            <a:stretch>
              <a:fillRect l="0" t="0" r="-2671" b="0"/>
            </a:stretch>
          </a:blipFill>
        </p:spPr>
      </p:sp>
      <p:sp>
        <p:nvSpPr>
          <p:cNvPr name="TextBox 4" id="4"/>
          <p:cNvSpPr txBox="true"/>
          <p:nvPr/>
        </p:nvSpPr>
        <p:spPr>
          <a:xfrm rot="0">
            <a:off x="2303530" y="471251"/>
            <a:ext cx="15120212" cy="216217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Re-making of the Liner according to the new casing dimensions</a:t>
            </a:r>
          </a:p>
          <a:p>
            <a:pPr algn="l">
              <a:lnSpc>
                <a:spcPts val="5759"/>
              </a:lnSpc>
            </a:pPr>
          </a:p>
        </p:txBody>
      </p:sp>
      <p:sp>
        <p:nvSpPr>
          <p:cNvPr name="TextBox 5" id="5"/>
          <p:cNvSpPr txBox="true"/>
          <p:nvPr/>
        </p:nvSpPr>
        <p:spPr>
          <a:xfrm rot="0">
            <a:off x="4750490" y="9012690"/>
            <a:ext cx="9037313" cy="491220"/>
          </a:xfrm>
          <a:prstGeom prst="rect">
            <a:avLst/>
          </a:prstGeom>
        </p:spPr>
        <p:txBody>
          <a:bodyPr anchor="t" rtlCol="false" tIns="0" lIns="0" bIns="0" rIns="0">
            <a:spAutoFit/>
          </a:bodyPr>
          <a:lstStyle/>
          <a:p>
            <a:pPr algn="ctr">
              <a:lnSpc>
                <a:spcPts val="3908"/>
              </a:lnSpc>
              <a:spcBef>
                <a:spcPct val="0"/>
              </a:spcBef>
            </a:pPr>
            <a:r>
              <a:rPr lang="en-US" sz="3257">
                <a:solidFill>
                  <a:srgbClr val="FFFFFF"/>
                </a:solidFill>
                <a:latin typeface="Montserrat"/>
                <a:ea typeface="Montserrat"/>
                <a:cs typeface="Montserrat"/>
                <a:sym typeface="Montserrat"/>
              </a:rPr>
              <a:t>Fig 16. Liner made to 94mm dimension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sp>
        <p:nvSpPr>
          <p:cNvPr name="Freeform 2" id="2"/>
          <p:cNvSpPr/>
          <p:nvPr/>
        </p:nvSpPr>
        <p:spPr>
          <a:xfrm flipH="false" flipV="false" rot="0">
            <a:off x="0" y="762002"/>
            <a:ext cx="2075700" cy="2032576"/>
          </a:xfrm>
          <a:custGeom>
            <a:avLst/>
            <a:gdLst/>
            <a:ahLst/>
            <a:cxnLst/>
            <a:rect r="r" b="b" t="t" l="l"/>
            <a:pathLst>
              <a:path h="2032576" w="2075700">
                <a:moveTo>
                  <a:pt x="0" y="0"/>
                </a:moveTo>
                <a:lnTo>
                  <a:pt x="2075700" y="0"/>
                </a:lnTo>
                <a:lnTo>
                  <a:pt x="2075700" y="2032576"/>
                </a:lnTo>
                <a:lnTo>
                  <a:pt x="0" y="2032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686425" y="888450"/>
            <a:ext cx="13894950" cy="1635825"/>
          </a:xfrm>
          <a:prstGeom prst="rect">
            <a:avLst/>
          </a:prstGeom>
        </p:spPr>
        <p:txBody>
          <a:bodyPr anchor="t" rtlCol="false" tIns="0" lIns="0" bIns="0" rIns="0">
            <a:spAutoFit/>
          </a:bodyPr>
          <a:lstStyle/>
          <a:p>
            <a:pPr algn="l">
              <a:lnSpc>
                <a:spcPts val="5759"/>
              </a:lnSpc>
            </a:pPr>
            <a:r>
              <a:rPr lang="en-US" sz="4800">
                <a:solidFill>
                  <a:srgbClr val="FFFFFF"/>
                </a:solidFill>
                <a:latin typeface="Montserrat"/>
                <a:ea typeface="Montserrat"/>
                <a:cs typeface="Montserrat"/>
                <a:sym typeface="Montserrat"/>
              </a:rPr>
              <a:t>NEXT WEEK’S OBJECTIVES</a:t>
            </a:r>
          </a:p>
        </p:txBody>
      </p:sp>
      <p:sp>
        <p:nvSpPr>
          <p:cNvPr name="TextBox 4" id="4"/>
          <p:cNvSpPr txBox="true"/>
          <p:nvPr/>
        </p:nvSpPr>
        <p:spPr>
          <a:xfrm rot="0">
            <a:off x="2303530" y="2727903"/>
            <a:ext cx="15791823" cy="4713133"/>
          </a:xfrm>
          <a:prstGeom prst="rect">
            <a:avLst/>
          </a:prstGeom>
        </p:spPr>
        <p:txBody>
          <a:bodyPr anchor="t" rtlCol="false" tIns="0" lIns="0" bIns="0" rIns="0">
            <a:spAutoFit/>
          </a:bodyPr>
          <a:lstStyle/>
          <a:p>
            <a:pPr algn="l" marL="1125832" indent="-562916" lvl="1">
              <a:lnSpc>
                <a:spcPts val="4705"/>
              </a:lnSpc>
              <a:buAutoNum type="arabicPeriod" startAt="1"/>
            </a:pPr>
            <a:r>
              <a:rPr lang="en-US" sz="3409">
                <a:solidFill>
                  <a:srgbClr val="FFFFFF"/>
                </a:solidFill>
                <a:latin typeface="Lato"/>
                <a:ea typeface="Lato"/>
                <a:cs typeface="Lato"/>
                <a:sym typeface="Lato"/>
              </a:rPr>
              <a:t>Simulating of the new casing performance in Ansys</a:t>
            </a:r>
          </a:p>
          <a:p>
            <a:pPr algn="l" marL="1125832" indent="-562916" lvl="1">
              <a:lnSpc>
                <a:spcPts val="4705"/>
              </a:lnSpc>
              <a:buAutoNum type="arabicPeriod" startAt="1"/>
            </a:pPr>
            <a:r>
              <a:rPr lang="en-US" sz="3409">
                <a:solidFill>
                  <a:srgbClr val="FFFFFF"/>
                </a:solidFill>
                <a:latin typeface="Lato"/>
                <a:ea typeface="Lato"/>
                <a:cs typeface="Lato"/>
                <a:sym typeface="Lato"/>
              </a:rPr>
              <a:t>Machining of the bulkheads to be used in the hydrostatic test </a:t>
            </a:r>
            <a:r>
              <a:rPr lang="en-US" b="true" sz="3409">
                <a:solidFill>
                  <a:srgbClr val="FFFFFF"/>
                </a:solidFill>
                <a:latin typeface="Lato Bold"/>
                <a:ea typeface="Lato Bold"/>
                <a:cs typeface="Lato Bold"/>
                <a:sym typeface="Lato Bold"/>
              </a:rPr>
              <a:t>(consult on how to conduct our own pressure test during hot fires - piping system connection</a:t>
            </a:r>
            <a:r>
              <a:rPr lang="en-US" sz="3409">
                <a:solidFill>
                  <a:srgbClr val="FFFFFF"/>
                </a:solidFill>
                <a:latin typeface="Lato"/>
                <a:ea typeface="Lato"/>
                <a:cs typeface="Lato"/>
                <a:sym typeface="Lato"/>
              </a:rPr>
              <a:t>)</a:t>
            </a:r>
          </a:p>
          <a:p>
            <a:pPr algn="l" marL="1125832" indent="-562916" lvl="1">
              <a:lnSpc>
                <a:spcPts val="4705"/>
              </a:lnSpc>
              <a:buAutoNum type="arabicPeriod" startAt="1"/>
            </a:pPr>
            <a:r>
              <a:rPr lang="en-US" sz="3409">
                <a:solidFill>
                  <a:srgbClr val="FFFFFF"/>
                </a:solidFill>
                <a:latin typeface="Lato"/>
                <a:ea typeface="Lato"/>
                <a:cs typeface="Lato"/>
                <a:sym typeface="Lato"/>
              </a:rPr>
              <a:t>Conducting the hydrostatic test</a:t>
            </a:r>
          </a:p>
          <a:p>
            <a:pPr algn="l" marL="1125832" indent="-562916" lvl="1">
              <a:lnSpc>
                <a:spcPts val="4705"/>
              </a:lnSpc>
              <a:buAutoNum type="arabicPeriod" startAt="1"/>
            </a:pPr>
            <a:r>
              <a:rPr lang="en-US" sz="3409">
                <a:solidFill>
                  <a:srgbClr val="FFFFFF"/>
                </a:solidFill>
                <a:latin typeface="Lato"/>
                <a:ea typeface="Lato"/>
                <a:cs typeface="Lato"/>
                <a:sym typeface="Lato"/>
              </a:rPr>
              <a:t>Obtaining Sorbitol and Potassium Nitrate</a:t>
            </a:r>
          </a:p>
          <a:p>
            <a:pPr algn="l" marL="1125832" indent="-562916" lvl="1">
              <a:lnSpc>
                <a:spcPts val="4705"/>
              </a:lnSpc>
              <a:buAutoNum type="arabicPeriod" startAt="1"/>
            </a:pPr>
            <a:r>
              <a:rPr lang="en-US" sz="3409">
                <a:solidFill>
                  <a:srgbClr val="FFFFFF"/>
                </a:solidFill>
                <a:latin typeface="Lato"/>
                <a:ea typeface="Lato"/>
                <a:cs typeface="Lato"/>
                <a:sym typeface="Lato"/>
              </a:rPr>
              <a:t>Cooking of the grains</a:t>
            </a:r>
          </a:p>
          <a:p>
            <a:pPr algn="l">
              <a:lnSpc>
                <a:spcPts val="4705"/>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B212C"/>
        </a:solidFill>
      </p:bgPr>
    </p:bg>
    <p:spTree>
      <p:nvGrpSpPr>
        <p:cNvPr id="1" name=""/>
        <p:cNvGrpSpPr/>
        <p:nvPr/>
      </p:nvGrpSpPr>
      <p:grpSpPr>
        <a:xfrm>
          <a:off x="0" y="0"/>
          <a:ext cx="0" cy="0"/>
          <a:chOff x="0" y="0"/>
          <a:chExt cx="0" cy="0"/>
        </a:xfrm>
      </p:grpSpPr>
      <p:grpSp>
        <p:nvGrpSpPr>
          <p:cNvPr name="Group 2" id="2"/>
          <p:cNvGrpSpPr/>
          <p:nvPr/>
        </p:nvGrpSpPr>
        <p:grpSpPr>
          <a:xfrm rot="5400000">
            <a:off x="15000600" y="1010"/>
            <a:ext cx="3287400" cy="3287400"/>
            <a:chOff x="0" y="0"/>
            <a:chExt cx="4383200" cy="4383200"/>
          </a:xfrm>
        </p:grpSpPr>
        <p:sp>
          <p:nvSpPr>
            <p:cNvPr name="Freeform 3" id="3"/>
            <p:cNvSpPr/>
            <p:nvPr/>
          </p:nvSpPr>
          <p:spPr>
            <a:xfrm flipH="false" flipV="false" rot="0">
              <a:off x="0" y="0"/>
              <a:ext cx="4383151" cy="4383151"/>
            </a:xfrm>
            <a:custGeom>
              <a:avLst/>
              <a:gdLst/>
              <a:ahLst/>
              <a:cxnLst/>
              <a:rect r="r" b="b" t="t" l="l"/>
              <a:pathLst>
                <a:path h="4383151" w="4383151">
                  <a:moveTo>
                    <a:pt x="0" y="0"/>
                  </a:moveTo>
                  <a:lnTo>
                    <a:pt x="4383151" y="0"/>
                  </a:lnTo>
                  <a:lnTo>
                    <a:pt x="0" y="4383151"/>
                  </a:lnTo>
                  <a:close/>
                </a:path>
              </a:pathLst>
            </a:custGeom>
            <a:solidFill>
              <a:srgbClr val="FFFFFF">
                <a:alpha val="0"/>
              </a:srgbClr>
            </a:solidFill>
          </p:spPr>
        </p:sp>
      </p:grpSp>
      <p:sp>
        <p:nvSpPr>
          <p:cNvPr name="Freeform 4" id="4"/>
          <p:cNvSpPr/>
          <p:nvPr/>
        </p:nvSpPr>
        <p:spPr>
          <a:xfrm flipH="false" flipV="false" rot="0">
            <a:off x="0" y="980"/>
            <a:ext cx="10307410" cy="10268798"/>
          </a:xfrm>
          <a:custGeom>
            <a:avLst/>
            <a:gdLst/>
            <a:ahLst/>
            <a:cxnLst/>
            <a:rect r="r" b="b" t="t" l="l"/>
            <a:pathLst>
              <a:path h="10268798" w="10307410">
                <a:moveTo>
                  <a:pt x="0" y="0"/>
                </a:moveTo>
                <a:lnTo>
                  <a:pt x="10307410" y="0"/>
                </a:lnTo>
                <a:lnTo>
                  <a:pt x="10307410" y="10268798"/>
                </a:lnTo>
                <a:lnTo>
                  <a:pt x="0" y="102687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165725" y="3248225"/>
            <a:ext cx="9852150" cy="2974950"/>
          </a:xfrm>
          <a:prstGeom prst="rect">
            <a:avLst/>
          </a:prstGeom>
        </p:spPr>
        <p:txBody>
          <a:bodyPr anchor="t" rtlCol="false" tIns="0" lIns="0" bIns="0" rIns="0">
            <a:spAutoFit/>
          </a:bodyPr>
          <a:lstStyle/>
          <a:p>
            <a:pPr algn="l">
              <a:lnSpc>
                <a:spcPts val="9600"/>
              </a:lnSpc>
            </a:pPr>
            <a:r>
              <a:rPr lang="en-US" sz="8000">
                <a:solidFill>
                  <a:srgbClr val="FFFFFF"/>
                </a:solidFill>
                <a:latin typeface="Montserrat"/>
                <a:ea typeface="Montserrat"/>
                <a:cs typeface="Montserrat"/>
                <a:sym typeface="Montserrat"/>
              </a:rPr>
              <a:t>THANK YOU</a:t>
            </a:r>
          </a:p>
        </p:txBody>
      </p:sp>
      <p:sp>
        <p:nvSpPr>
          <p:cNvPr name="TextBox 6" id="6"/>
          <p:cNvSpPr txBox="true"/>
          <p:nvPr/>
        </p:nvSpPr>
        <p:spPr>
          <a:xfrm rot="0">
            <a:off x="10259325" y="7931750"/>
            <a:ext cx="6758550" cy="838875"/>
          </a:xfrm>
          <a:prstGeom prst="rect">
            <a:avLst/>
          </a:prstGeom>
        </p:spPr>
        <p:txBody>
          <a:bodyPr anchor="t" rtlCol="false" tIns="0" lIns="0" bIns="0" rIns="0">
            <a:spAutoFit/>
          </a:bodyPr>
          <a:lstStyle/>
          <a:p>
            <a:pPr algn="l">
              <a:lnSpc>
                <a:spcPts val="3600"/>
              </a:lnSpc>
            </a:pPr>
            <a:r>
              <a:rPr lang="en-US" sz="3000">
                <a:solidFill>
                  <a:srgbClr val="FFFFFF"/>
                </a:solidFill>
                <a:latin typeface="Lato"/>
                <a:ea typeface="Lato"/>
                <a:cs typeface="Lato"/>
                <a:sym typeface="Lato"/>
              </a:rPr>
              <a:t>N4 SOLIDS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DAGqNs9SSGU</dc:identifier>
  <dcterms:modified xsi:type="dcterms:W3CDTF">2011-08-01T06:04:30Z</dcterms:modified>
  <cp:revision>1</cp:revision>
  <dc:title>Week 2 Progress Report.pptx</dc:title>
</cp:coreProperties>
</file>